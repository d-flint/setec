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51" y="11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17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55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97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0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0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70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33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87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6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3703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97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6105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86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30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848AB-1217-4ED5-8EFD-9480EBE6004B}" type="datetimeFigureOut">
              <a:rPr lang="en-US" smtClean="0"/>
              <a:t>20-Nov-25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99A147F-AFBE-4544-A502-E86F1143B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3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72684" y="1870885"/>
            <a:ext cx="3111500" cy="838200"/>
          </a:xfrm>
        </p:spPr>
        <p:txBody>
          <a:bodyPr>
            <a:normAutofit fontScale="90000"/>
          </a:bodyPr>
          <a:lstStyle/>
          <a:p>
            <a:r>
              <a:rPr lang="en-US" sz="4400" b="1">
                <a:latin typeface="Khmer OS" panose="02000500000000020004" pitchFamily="2" charset="0"/>
                <a:cs typeface="Khmer OS" panose="02000500000000020004" pitchFamily="2" charset="0"/>
              </a:rPr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836730"/>
            <a:ext cx="8813800" cy="7366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en-US" sz="3600" b="1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:</a:t>
            </a:r>
            <a:r>
              <a:rPr lang="km-KH" sz="3600" b="1" dirty="0">
                <a:solidFill>
                  <a:srgbClr val="FF000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​​​​​​​បោះដុំភេសជ្ជះ</a:t>
            </a:r>
            <a:endParaRPr lang="en-US" sz="3600" b="1" dirty="0">
              <a:solidFill>
                <a:srgbClr val="FF0000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771377" y="3994727"/>
            <a:ext cx="6408421" cy="2641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a-ES" sz="2800" b="1" dirty="0">
                <a:solidFill>
                  <a:schemeClr val="tx2"/>
                </a:solidFill>
                <a:latin typeface="Khmer OS" panose="02000500000000020004" pitchFamily="2" charset="0"/>
                <a:cs typeface="Khmer OS" panose="02000500000000020004" pitchFamily="2" charset="0"/>
              </a:rPr>
              <a:t>Student Name: </a:t>
            </a:r>
            <a:r>
              <a:rPr lang="en-US" sz="2800" b="1" dirty="0">
                <a:solidFill>
                  <a:schemeClr val="tx2"/>
                </a:solidFill>
                <a:latin typeface="Khmer OS" panose="02000500000000020004" pitchFamily="2" charset="0"/>
                <a:cs typeface="Khmer OS" panose="02000500000000020004" pitchFamily="2" charset="0"/>
              </a:rPr>
              <a:t>Hoeurb </a:t>
            </a:r>
            <a:r>
              <a:rPr lang="en-US" sz="2800" b="1" dirty="0" err="1">
                <a:solidFill>
                  <a:schemeClr val="tx2"/>
                </a:solidFill>
                <a:latin typeface="Khmer OS" panose="02000500000000020004" pitchFamily="2" charset="0"/>
                <a:cs typeface="Khmer OS" panose="02000500000000020004" pitchFamily="2" charset="0"/>
              </a:rPr>
              <a:t>Vuthi</a:t>
            </a:r>
            <a:endParaRPr lang="ca-ES" sz="2800" b="1" dirty="0">
              <a:solidFill>
                <a:schemeClr val="tx2"/>
              </a:solidFill>
              <a:latin typeface="Khmer OS" panose="02000500000000020004" pitchFamily="2" charset="0"/>
              <a:cs typeface="Khmer OS" panose="02000500000000020004" pitchFamily="2" charset="0"/>
            </a:endParaRPr>
          </a:p>
          <a:p>
            <a:pPr algn="l"/>
            <a:r>
              <a:rPr lang="ca-ES" sz="2800" b="1" dirty="0">
                <a:solidFill>
                  <a:schemeClr val="tx2"/>
                </a:solidFill>
                <a:latin typeface="Khmer OS" panose="02000500000000020004" pitchFamily="2" charset="0"/>
                <a:cs typeface="Khmer OS" panose="02000500000000020004" pitchFamily="2" charset="0"/>
              </a:rPr>
              <a:t>Teacher Name: Ruy Sopheakleakhena</a:t>
            </a:r>
          </a:p>
          <a:p>
            <a:pPr algn="l"/>
            <a:r>
              <a:rPr lang="ca-ES" sz="2800" b="1" dirty="0">
                <a:solidFill>
                  <a:schemeClr val="tx2"/>
                </a:solidFill>
                <a:latin typeface="Khmer OS" panose="02000500000000020004" pitchFamily="2" charset="0"/>
                <a:cs typeface="Khmer OS" panose="02000500000000020004" pitchFamily="2" charset="0"/>
              </a:rPr>
              <a:t>Major: MIS</a:t>
            </a:r>
          </a:p>
          <a:p>
            <a:pPr algn="l"/>
            <a:r>
              <a:rPr lang="ca-ES" sz="2800" b="1" dirty="0">
                <a:solidFill>
                  <a:schemeClr val="tx2"/>
                </a:solidFill>
                <a:latin typeface="Khmer OS" panose="02000500000000020004" pitchFamily="2" charset="0"/>
                <a:cs typeface="Khmer OS" panose="02000500000000020004" pitchFamily="2" charset="0"/>
              </a:rPr>
              <a:t>Group: ASL5</a:t>
            </a:r>
          </a:p>
          <a:p>
            <a:pPr algn="l"/>
            <a:r>
              <a:rPr lang="ca-ES" sz="2800" b="1" dirty="0">
                <a:solidFill>
                  <a:schemeClr val="tx2"/>
                </a:solidFill>
                <a:latin typeface="Khmer OS" panose="02000500000000020004" pitchFamily="2" charset="0"/>
                <a:cs typeface="Khmer OS" panose="02000500000000020004" pitchFamily="2" charset="0"/>
              </a:rPr>
              <a:t>No: 17</a:t>
            </a:r>
          </a:p>
        </p:txBody>
      </p:sp>
    </p:spTree>
    <p:extLst>
      <p:ext uri="{BB962C8B-B14F-4D97-AF65-F5344CB8AC3E}">
        <p14:creationId xmlns:p14="http://schemas.microsoft.com/office/powerpoint/2010/main" val="321121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491" y="1542471"/>
            <a:ext cx="11351491" cy="1400265"/>
          </a:xfrm>
        </p:spPr>
        <p:txBody>
          <a:bodyPr>
            <a:normAutofit fontScale="90000"/>
          </a:bodyPr>
          <a:lstStyle/>
          <a:p>
            <a:pPr algn="l">
              <a:lnSpc>
                <a:spcPts val="3500"/>
              </a:lnSpc>
            </a:pPr>
            <a:r>
              <a:rPr lang="ca-ES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 បើចង់</a:t>
            </a:r>
            <a:r>
              <a:rPr lang="km-KH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ឲការ</a:t>
            </a:r>
            <a:r>
              <a:rPr lang="km-KH" sz="2800" dirty="0">
                <a:solidFill>
                  <a:srgbClr val="FF000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​​​​​​​</a:t>
            </a:r>
            <a:r>
              <a:rPr lang="km-KH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បោះដុំភេសជ្ជះ</a:t>
            </a:r>
            <a:r>
              <a:rPr lang="ca-ES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មួយនេះអោយដំណើរការរលូននឹងទទួលបានប្រសិទ្ធភាពខ្ពស់យើងត្រូវដើរលើគោលការ៥ចំ</a:t>
            </a:r>
            <a:r>
              <a:rPr lang="km-KH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ណុ</a:t>
            </a:r>
            <a:r>
              <a:rPr lang="ca-ES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ចខ</a:t>
            </a:r>
            <a:r>
              <a:rPr lang="km-KH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ាង</a:t>
            </a:r>
            <a:r>
              <a:rPr lang="ca-ES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ក្រោមន</a:t>
            </a:r>
            <a:r>
              <a:rPr lang="km-KH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េះ</a:t>
            </a:r>
            <a:r>
              <a:rPr lang="ca-ES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ដើម្បីយកមកអនុវត្តន</a:t>
            </a:r>
            <a:r>
              <a:rPr lang="km-KH" sz="2800" dirty="0">
                <a:solidFill>
                  <a:schemeClr val="tx1"/>
                </a:solidFill>
                <a:latin typeface="Khmer OS Battambang" panose="02000500000000000000" pitchFamily="2" charset="0"/>
                <a:cs typeface="Khmer OS Battambang" panose="02000500000000000000" pitchFamily="2" charset="0"/>
              </a:rPr>
              <a:t>៍</a:t>
            </a:r>
            <a:r>
              <a:rPr lang="ca-ES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មានដូចជា៖</a:t>
            </a:r>
            <a:endParaRPr lang="en-US" sz="2800" dirty="0">
              <a:solidFill>
                <a:schemeClr val="tx1"/>
              </a:solidFill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2942736"/>
            <a:ext cx="9196252" cy="401029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Khmer OS Muol" panose="02000500000000020004" pitchFamily="2" charset="0"/>
                <a:cs typeface="Khmer OS Muol" panose="02000500000000020004" pitchFamily="2" charset="0"/>
              </a:rPr>
              <a:t>1.</a:t>
            </a:r>
            <a:r>
              <a:rPr lang="km-KH" sz="3200" dirty="0">
                <a:latin typeface="Khmer OS Muol" panose="02000500000000020004" pitchFamily="2" charset="0"/>
                <a:cs typeface="Khmer OS Muol" panose="02000500000000020004" pitchFamily="2" charset="0"/>
              </a:rPr>
              <a:t>រយៈពេល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Khmer OS Muol" panose="02000500000000020004" pitchFamily="2" charset="0"/>
                <a:cs typeface="Khmer OS Muol" panose="02000500000000020004" pitchFamily="2" charset="0"/>
              </a:rPr>
              <a:t>2.</a:t>
            </a:r>
            <a:r>
              <a:rPr lang="km-KH" sz="3200" dirty="0">
                <a:latin typeface="Khmer OS Muol" panose="02000500000000020004" pitchFamily="2" charset="0"/>
                <a:cs typeface="Khmer OS Muol" panose="02000500000000020004" pitchFamily="2" charset="0"/>
              </a:rPr>
              <a:t>ថវិការ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Khmer OS Muol" panose="02000500000000020004" pitchFamily="2" charset="0"/>
                <a:cs typeface="Khmer OS Muol" panose="02000500000000020004" pitchFamily="2" charset="0"/>
              </a:rPr>
              <a:t>3.</a:t>
            </a:r>
            <a:r>
              <a:rPr lang="km-KH" sz="3200" dirty="0">
                <a:latin typeface="Khmer OS Muol" panose="02000500000000020004" pitchFamily="2" charset="0"/>
                <a:cs typeface="Khmer OS Muol" panose="02000500000000020004" pitchFamily="2" charset="0"/>
              </a:rPr>
              <a:t>គោលនយោបាយ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Khmer OS Muol" panose="02000500000000020004" pitchFamily="2" charset="0"/>
                <a:cs typeface="Khmer OS Muol" panose="02000500000000020004" pitchFamily="2" charset="0"/>
              </a:rPr>
              <a:t>4.</a:t>
            </a:r>
            <a:r>
              <a:rPr lang="km-KH" sz="3200" dirty="0">
                <a:latin typeface="Khmer OS Muol" panose="02000500000000020004" pitchFamily="2" charset="0"/>
                <a:cs typeface="Khmer OS Muol" panose="02000500000000020004" pitchFamily="2" charset="0"/>
              </a:rPr>
              <a:t>ទម្រង់បែបបទ</a:t>
            </a:r>
            <a:endParaRPr lang="ca-ES" sz="3200" dirty="0">
              <a:latin typeface="Khmer OS Muol" panose="02000500000000020004" pitchFamily="2" charset="0"/>
              <a:cs typeface="Khmer OS Muol" panose="02000500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Khmer OS Muol" panose="02000500000000020004" pitchFamily="2" charset="0"/>
                <a:cs typeface="Khmer OS Muol" panose="02000500000000020004" pitchFamily="2" charset="0"/>
              </a:rPr>
              <a:t>5.គំរូបទដ្ឋាន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283" y="2887696"/>
            <a:ext cx="2910609" cy="291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4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675" y="4268211"/>
            <a:ext cx="4571423" cy="25897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845" y="1108822"/>
            <a:ext cx="3483492" cy="927099"/>
          </a:xfrm>
        </p:spPr>
        <p:txBody>
          <a:bodyPr>
            <a:normAutofit/>
          </a:bodyPr>
          <a:lstStyle/>
          <a:p>
            <a:r>
              <a:rPr lang="km-KH">
                <a:solidFill>
                  <a:schemeClr val="tx1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1</a:t>
            </a:r>
            <a:r>
              <a:rPr lang="en-US">
                <a:solidFill>
                  <a:schemeClr val="tx1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.</a:t>
            </a:r>
            <a:r>
              <a:rPr lang="km-KH">
                <a:solidFill>
                  <a:srgbClr val="FF0000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រយៈពេល</a:t>
            </a:r>
            <a:endParaRPr lang="en-US">
              <a:solidFill>
                <a:srgbClr val="FF0000"/>
              </a:solidFill>
              <a:latin typeface="Khmer OS Muol" panose="02000500000000020004" pitchFamily="2" charset="0"/>
              <a:cs typeface="Khmer OS Muol" panose="02000500000000020004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845" y="2236516"/>
            <a:ext cx="11252200" cy="2413000"/>
          </a:xfrm>
        </p:spPr>
        <p:txBody>
          <a:bodyPr>
            <a:noAutofit/>
          </a:bodyPr>
          <a:lstStyle/>
          <a:p>
            <a:pPr marL="800100" lvl="2" indent="0">
              <a:lnSpc>
                <a:spcPts val="3900"/>
              </a:lnSpc>
              <a:buNone/>
            </a:pPr>
            <a:r>
              <a:rPr lang="km-KH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​ ការបើក</a:t>
            </a:r>
            <a:r>
              <a:rPr lang="km-KH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អារជីវះកម្ម</a:t>
            </a:r>
            <a:r>
              <a:rPr lang="km-KH" sz="2800" dirty="0">
                <a:solidFill>
                  <a:srgbClr val="FF000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​​​​​​​</a:t>
            </a:r>
            <a:r>
              <a:rPr lang="km-KH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បោះដុំភេសជ្ជះ</a:t>
            </a:r>
            <a:r>
              <a:rPr lang="km-KH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មួយយើងត្រូវការប្រើប្រាស់រយៈពេលមួយដែលប្រាកដហើយ</a:t>
            </a:r>
            <a:r>
              <a:rPr lang="km-KH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អារជីវះកម្ម</a:t>
            </a:r>
            <a:r>
              <a:rPr lang="km-KH" sz="2800" dirty="0">
                <a:solidFill>
                  <a:srgbClr val="FF0000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​​​​​​​</a:t>
            </a:r>
            <a:r>
              <a:rPr lang="km-KH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បោះដុំភេសជ្ជះ</a:t>
            </a:r>
            <a:r>
              <a:rPr lang="km-KH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មួយនេះត្រូវការរយៈពេល១២ខែដើម្បីយកមកវាយតម្លៃទៅលើការទិញរបស់អតិថិជនថាយើងអាចគ្រប់គ្រងទៅលើការចំណេញថ្លៃដើមនឹងការចំណាយរបស់យើងដែរទេ។</a:t>
            </a:r>
          </a:p>
          <a:p>
            <a:pPr marL="800100" lvl="2" indent="0">
              <a:lnSpc>
                <a:spcPts val="3900"/>
              </a:lnSpc>
              <a:buNone/>
            </a:pPr>
            <a:endParaRPr lang="en-US" sz="32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00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87629"/>
            <a:ext cx="2844799" cy="533403"/>
          </a:xfrm>
        </p:spPr>
        <p:txBody>
          <a:bodyPr>
            <a:noAutofit/>
          </a:bodyPr>
          <a:lstStyle/>
          <a:p>
            <a:r>
              <a:rPr lang="km-KH" sz="3600" dirty="0">
                <a:solidFill>
                  <a:schemeClr val="tx1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2</a:t>
            </a:r>
            <a:r>
              <a:rPr lang="en-US" sz="3600" dirty="0">
                <a:solidFill>
                  <a:schemeClr val="tx1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.</a:t>
            </a:r>
            <a:r>
              <a:rPr lang="ca-ES" sz="3600" dirty="0">
                <a:solidFill>
                  <a:srgbClr val="FF0000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ថវិកា</a:t>
            </a:r>
            <a:endParaRPr lang="en-US" sz="3600" dirty="0">
              <a:solidFill>
                <a:srgbClr val="FF0000"/>
              </a:solidFill>
              <a:latin typeface="Khmer OS Muol" panose="02000500000000020004" pitchFamily="2" charset="0"/>
              <a:cs typeface="Khmer OS Muol" panose="02000500000000020004" pitchFamily="2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699353"/>
              </p:ext>
            </p:extLst>
          </p:nvPr>
        </p:nvGraphicFramePr>
        <p:xfrm>
          <a:off x="786245" y="628072"/>
          <a:ext cx="10842335" cy="4489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8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8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8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400">
                          <a:solidFill>
                            <a:srgbClr val="FFFF00"/>
                          </a:solidFill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ចំណាយ</a:t>
                      </a:r>
                      <a:endParaRPr lang="en-US" sz="2400">
                        <a:solidFill>
                          <a:srgbClr val="FFFF00"/>
                        </a:solidFill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400">
                          <a:solidFill>
                            <a:srgbClr val="FFFF00"/>
                          </a:solidFill>
                        </a:rPr>
                        <a:t>ចំនួន</a:t>
                      </a:r>
                      <a:endParaRPr lang="en-US" sz="240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400">
                          <a:solidFill>
                            <a:srgbClr val="FFFF00"/>
                          </a:solidFill>
                        </a:rPr>
                        <a:t>តម្លៃ</a:t>
                      </a:r>
                      <a:endParaRPr lang="en-US" sz="240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400">
                          <a:solidFill>
                            <a:srgbClr val="FFFF00"/>
                          </a:solidFill>
                        </a:rPr>
                        <a:t>រយៈពេល</a:t>
                      </a:r>
                      <a:endParaRPr lang="en-US" sz="240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400">
                          <a:solidFill>
                            <a:srgbClr val="FFFF00"/>
                          </a:solidFill>
                        </a:rPr>
                        <a:t>ចំណាយសរុប</a:t>
                      </a:r>
                      <a:endParaRPr lang="en-US" sz="240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4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m-KH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ឡាន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km-KH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២​​​​ គ្រឿង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15000$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10 </a:t>
                      </a:r>
                      <a:r>
                        <a:rPr lang="en-US" sz="2000" dirty="0" err="1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ខែ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30000$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4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អ្នកបើកឡាន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baseline="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២ នាក់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200$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១២ </a:t>
                      </a:r>
                      <a:r>
                        <a:rPr lang="en-US" sz="2000" dirty="0" err="1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ខែ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2400$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4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អ្នកលើកអីវ៉ាន់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៤នាក់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២៥០$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baseline="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១២ ខែ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3000$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4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សំភារៈ</a:t>
                      </a:r>
                      <a:r>
                        <a:rPr lang="ca-ES" sz="2000" baseline="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ផ្សេងៗ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250$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baseline="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១២</a:t>
                      </a:r>
                      <a:r>
                        <a:rPr lang="ca-E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 ខែ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250$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4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ទឹកភ្លើង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1​</a:t>
                      </a:r>
                      <a:r>
                        <a:rPr lang="ca-ES" sz="2000" baseline="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 ខែ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50$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baseline="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១២ ខែ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600$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64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ប្រាក់បំរុងទុក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1កញ្ចប់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១០០០០$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10000$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64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ពន្ធអាករ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១២ ខែ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10%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baseline="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១២</a:t>
                      </a: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 </a:t>
                      </a:r>
                      <a:r>
                        <a:rPr lang="en-US" sz="2000" dirty="0" err="1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ខែ</a:t>
                      </a:r>
                      <a:endParaRPr lang="en-US" sz="2000" dirty="0"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10%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77169"/>
              </p:ext>
            </p:extLst>
          </p:nvPr>
        </p:nvGraphicFramePr>
        <p:xfrm>
          <a:off x="7287491" y="5117366"/>
          <a:ext cx="4341089" cy="634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5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48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ca-ES" sz="2000" b="0" dirty="0">
                          <a:solidFill>
                            <a:schemeClr val="tx1"/>
                          </a:solidFill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សរុប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Khmer OS Battambang" panose="02000500000000020004" pitchFamily="2" charset="0"/>
                        <a:cs typeface="Khmer OS Battambang" panose="02000500000000020004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Khmer OS Battambang" panose="02000500000000020004" pitchFamily="2" charset="0"/>
                          <a:cs typeface="Khmer OS Battambang" panose="02000500000000020004" pitchFamily="2" charset="0"/>
                        </a:rPr>
                        <a:t>46,250$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358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634" y="254000"/>
            <a:ext cx="3920066" cy="83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3.</a:t>
            </a:r>
            <a:r>
              <a:rPr lang="en-US" dirty="0">
                <a:solidFill>
                  <a:srgbClr val="FF0000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ទម្រង់បែបបទ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434" y="850901"/>
            <a:ext cx="11499657" cy="2095499"/>
          </a:xfrm>
        </p:spPr>
        <p:txBody>
          <a:bodyPr>
            <a:normAutofit/>
          </a:bodyPr>
          <a:lstStyle/>
          <a:p>
            <a:pPr marL="0" indent="0">
              <a:lnSpc>
                <a:spcPts val="4000"/>
              </a:lnSpc>
              <a:buNone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ក្នុងការបើកអាជីវកម្មឬហាងមួយយើងត្រូវមានការស្នើរសុំសិទ្ធក្នុងការបើកជាមុនសិនបន្ទាប់មកយើងត្រូវមានការបង់ពន្ធជូនក្រសួងពាណិជ្ជកម្មមានដូចជា៖</a:t>
            </a:r>
            <a:endParaRPr lang="en-US" sz="28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61434" y="2705101"/>
            <a:ext cx="9762066" cy="4152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000"/>
              </a:lnSpc>
              <a:buNone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1</a:t>
            </a:r>
            <a:r>
              <a:rPr lang="en-U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.</a:t>
            </a: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ប័ណ្ណប៉ាតង់</a:t>
            </a:r>
          </a:p>
          <a:p>
            <a:pPr marL="0" indent="0">
              <a:lnSpc>
                <a:spcPts val="4000"/>
              </a:lnSpc>
              <a:buNone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2. ពន្ធប្រាក់ចំណូល</a:t>
            </a:r>
          </a:p>
          <a:p>
            <a:pPr marL="0" indent="0">
              <a:lnSpc>
                <a:spcPts val="4000"/>
              </a:lnSpc>
              <a:buNone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3. ពន្ធនាំចូល</a:t>
            </a:r>
          </a:p>
          <a:p>
            <a:pPr marL="0" indent="0">
              <a:lnSpc>
                <a:spcPts val="4000"/>
              </a:lnSpc>
              <a:buNone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4. ពន្ធអាករ 10%</a:t>
            </a:r>
          </a:p>
          <a:p>
            <a:pPr marL="0" indent="0">
              <a:lnSpc>
                <a:spcPts val="4000"/>
              </a:lnSpc>
              <a:buNone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5. ពន្ធអាជីវកម្ម</a:t>
            </a:r>
          </a:p>
          <a:p>
            <a:pPr marL="0" indent="0">
              <a:lnSpc>
                <a:spcPts val="4000"/>
              </a:lnSpc>
              <a:buNone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6.​ ការចុះបញ្ញីត្រឹមត្រូវនៅក្រសួងពាណិជ្ជកម្ម</a:t>
            </a:r>
          </a:p>
          <a:p>
            <a:pPr marL="0" indent="0">
              <a:lnSpc>
                <a:spcPts val="4000"/>
              </a:lnSpc>
              <a:buNone/>
            </a:pPr>
            <a:endParaRPr lang="en-US" sz="28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5" t="2667"/>
          <a:stretch/>
        </p:blipFill>
        <p:spPr>
          <a:xfrm>
            <a:off x="5676900" y="2531997"/>
            <a:ext cx="5613399" cy="335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366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580" y="520700"/>
            <a:ext cx="8911166" cy="787400"/>
          </a:xfrm>
        </p:spPr>
        <p:txBody>
          <a:bodyPr>
            <a:normAutofit fontScale="90000"/>
          </a:bodyPr>
          <a:lstStyle/>
          <a:p>
            <a:r>
              <a:rPr lang="ca-ES">
                <a:solidFill>
                  <a:schemeClr val="tx1"/>
                </a:solidFill>
              </a:rPr>
              <a:t>4</a:t>
            </a:r>
            <a:r>
              <a:rPr lang="en-US">
                <a:solidFill>
                  <a:schemeClr val="tx1"/>
                </a:solidFill>
              </a:rPr>
              <a:t>.</a:t>
            </a:r>
            <a:r>
              <a:rPr lang="km-KH">
                <a:solidFill>
                  <a:schemeClr val="tx1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 </a:t>
            </a:r>
            <a:r>
              <a:rPr lang="km-KH">
                <a:solidFill>
                  <a:srgbClr val="FF0000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គោលនយោបាយ</a:t>
            </a:r>
            <a:r>
              <a:rPr lang="ca-ES">
                <a:solidFill>
                  <a:srgbClr val="FF0000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( បទបញ្ញាផ្សេងៗ)</a:t>
            </a:r>
            <a:br>
              <a:rPr lang="en-US">
                <a:latin typeface="Khmer OS Muol" panose="02000500000000020004" pitchFamily="2" charset="0"/>
                <a:cs typeface="Khmer OS Muol" panose="02000500000000020004" pitchFamily="2" charset="0"/>
              </a:rPr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1782" y="2234045"/>
            <a:ext cx="9271000" cy="4241800"/>
          </a:xfrm>
        </p:spPr>
        <p:txBody>
          <a:bodyPr>
            <a:normAutofit/>
          </a:bodyPr>
          <a:lstStyle/>
          <a:p>
            <a:pPr>
              <a:buClr>
                <a:schemeClr val="accent3"/>
              </a:buClr>
              <a:buFont typeface="Wingdings" panose="05000000000000000000" pitchFamily="2" charset="2"/>
              <a:buChar char="q"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បុគ្គលិកអាចឈប់សំរាកចំនួន </a:t>
            </a:r>
            <a:r>
              <a:rPr lang="km-KH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៤</a:t>
            </a: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 ថ្ងៃ</a:t>
            </a:r>
            <a:r>
              <a:rPr lang="en-U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/</a:t>
            </a:r>
            <a:r>
              <a:rPr lang="km-KH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១</a:t>
            </a: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ខែ</a:t>
            </a:r>
          </a:p>
          <a:p>
            <a:pPr>
              <a:buClr>
                <a:schemeClr val="accent3"/>
              </a:buClr>
              <a:buFont typeface="Wingdings" panose="05000000000000000000" pitchFamily="2" charset="2"/>
              <a:buChar char="q"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បុគ្គលិកអាចសុំច្បាប់ឈប់សំរាក </a:t>
            </a:r>
            <a:r>
              <a:rPr lang="km-KH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២</a:t>
            </a: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 ដង/</a:t>
            </a:r>
            <a:r>
              <a:rPr lang="km-KH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១</a:t>
            </a: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ខែ</a:t>
            </a:r>
          </a:p>
          <a:p>
            <a:pPr>
              <a:buClr>
                <a:schemeClr val="accent3"/>
              </a:buClr>
              <a:buFont typeface="Wingdings" panose="05000000000000000000" pitchFamily="2" charset="2"/>
              <a:buChar char="q"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មកធ្វើការទាន់ពេលវេលា (</a:t>
            </a:r>
            <a:r>
              <a:rPr lang="en-U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8</a:t>
            </a: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:30 AM – 4:30 </a:t>
            </a:r>
            <a:r>
              <a:rPr lang="ca-ES" sz="2800" dirty="0">
                <a:latin typeface="+mj-lt"/>
                <a:cs typeface="Khmer OS Battambang" panose="02000500000000020004" pitchFamily="2" charset="0"/>
              </a:rPr>
              <a:t>PM</a:t>
            </a: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)</a:t>
            </a:r>
          </a:p>
          <a:p>
            <a:pPr>
              <a:buClr>
                <a:schemeClr val="accent3"/>
              </a:buClr>
              <a:buFont typeface="Wingdings" panose="05000000000000000000" pitchFamily="2" charset="2"/>
              <a:buChar char="q"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រួសរាយរាក់ទាក់នឹងមានសុជីវធម៍ល្អ</a:t>
            </a:r>
          </a:p>
          <a:p>
            <a:pPr>
              <a:buClr>
                <a:schemeClr val="accent3"/>
              </a:buClr>
              <a:buFont typeface="Wingdings" panose="05000000000000000000" pitchFamily="2" charset="2"/>
              <a:buChar char="q"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ស្មោះត្រង់នឹងការងារ</a:t>
            </a:r>
          </a:p>
          <a:p>
            <a:pPr>
              <a:buClr>
                <a:schemeClr val="accent3"/>
              </a:buClr>
              <a:buFont typeface="Wingdings" panose="05000000000000000000" pitchFamily="2" charset="2"/>
              <a:buChar char="q"/>
            </a:pP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ជួយថែរក្សាសំភារៈកន្លែងការងារ</a:t>
            </a:r>
            <a:endParaRPr lang="en-US" sz="2800" dirty="0">
              <a:latin typeface="Khmer OS Battambang" panose="02000500000000020004" pitchFamily="2" charset="0"/>
              <a:cs typeface="Khmer OS Battambang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32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582" y="624609"/>
            <a:ext cx="3183466" cy="10287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5.</a:t>
            </a:r>
            <a:r>
              <a:rPr lang="en-US" dirty="0">
                <a:solidFill>
                  <a:srgbClr val="FF0000"/>
                </a:solidFill>
                <a:latin typeface="Khmer OS Muol" panose="02000500000000020004" pitchFamily="2" charset="0"/>
                <a:cs typeface="Khmer OS Muol" panose="02000500000000020004" pitchFamily="2" charset="0"/>
              </a:rPr>
              <a:t>គំរូបទដ្ឋាន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582" y="1858818"/>
            <a:ext cx="11278754" cy="29810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m-KH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	</a:t>
            </a: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សូមអតិថិជនជឿទុកចិត្ត</a:t>
            </a:r>
            <a:r>
              <a:rPr lang="km-KH" sz="2800" dirty="0">
                <a:solidFill>
                  <a:schemeClr val="tx1"/>
                </a:solidFill>
                <a:latin typeface="Khmer OS Battambang" panose="02000500000000020004" pitchFamily="2" charset="0"/>
                <a:cs typeface="Khmer OS Battambang" panose="02000500000000020004" pitchFamily="2" charset="0"/>
              </a:rPr>
              <a:t>ជីវះកម្ម</a:t>
            </a: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របស់យើងខ្ញុំចុះព្រោះហាងយើងខ្ញុំបានចុះ</a:t>
            </a:r>
            <a:r>
              <a:rPr lang="km-KH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 </a:t>
            </a: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ឈ្មោះត្រឹមត្រូវនៅផលិតផលដែលបាននាំចូលនៅក្នុងបញ្ញី</a:t>
            </a:r>
            <a:r>
              <a:rPr lang="km-KH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​ </a:t>
            </a:r>
            <a:r>
              <a:rPr lang="ca-ES" sz="2800" dirty="0">
                <a:latin typeface="Khmer OS Battambang" panose="02000500000000020004" pitchFamily="2" charset="0"/>
                <a:cs typeface="Khmer OS Battambang" panose="02000500000000020004" pitchFamily="2" charset="0"/>
              </a:rPr>
              <a:t>របស់ក្រសួងពាណិជ្ជកម្មដែលមានម៉ាកសញ្ញាត្រឹមត្រូវតាមស្តង់ដា។</a:t>
            </a:r>
          </a:p>
        </p:txBody>
      </p:sp>
    </p:spTree>
    <p:extLst>
      <p:ext uri="{BB962C8B-B14F-4D97-AF65-F5344CB8AC3E}">
        <p14:creationId xmlns:p14="http://schemas.microsoft.com/office/powerpoint/2010/main" val="37303739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282</TotalTime>
  <Words>498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Khmer OS</vt:lpstr>
      <vt:lpstr>Khmer OS Battambang</vt:lpstr>
      <vt:lpstr>Khmer OS Muol</vt:lpstr>
      <vt:lpstr>Trebuchet MS</vt:lpstr>
      <vt:lpstr>Wingdings</vt:lpstr>
      <vt:lpstr>Wingdings 3</vt:lpstr>
      <vt:lpstr>Facet</vt:lpstr>
      <vt:lpstr>Presentation</vt:lpstr>
      <vt:lpstr> បើចង់ឲការ​​​​​​​បោះដុំភេសជ្ជះមួយនេះអោយដំណើរការរលូននឹងទទួលបានប្រសិទ្ធភាពខ្ពស់យើងត្រូវដើរលើគោលការ៥ចំណុចខាងក្រោមនេះដើម្បីយកមកអនុវត្តន៍មានដូចជា៖</vt:lpstr>
      <vt:lpstr>1.រយៈពេល</vt:lpstr>
      <vt:lpstr>2.ថវិកា</vt:lpstr>
      <vt:lpstr>3.ទម្រង់បែបបទ</vt:lpstr>
      <vt:lpstr>4. គោលនយោបាយ( បទបញ្ញាផ្សេងៗ) </vt:lpstr>
      <vt:lpstr>5.គំរូបទដ្ឋាន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mithona somrech</dc:creator>
  <cp:lastModifiedBy>D Flint</cp:lastModifiedBy>
  <cp:revision>40</cp:revision>
  <dcterms:created xsi:type="dcterms:W3CDTF">2019-12-01T14:03:50Z</dcterms:created>
  <dcterms:modified xsi:type="dcterms:W3CDTF">2025-11-20T09:45:49Z</dcterms:modified>
</cp:coreProperties>
</file>